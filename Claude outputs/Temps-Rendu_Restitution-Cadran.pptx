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bf6ed09-da1a-5ded-8f3f-fd1f39d3ce32}">
          <p14:sldIdLst>
            <p14:sldId id="256"/>
            <p14:sldId id="257"/>
            <p14:sldId id="258"/>
            <p14:sldId id="259"/>
          </p14:sldIdLst>
        </p14:section>
        <p14:section name="Le constat" id="{a3f6bc01-7eb0-0fd8-097a-379553d984d8}">
          <p14:sldIdLst>
            <p14:sldId id="260"/>
            <p14:sldId id="261"/>
            <p14:sldId id="262"/>
            <p14:sldId id="263"/>
          </p14:sldIdLst>
        </p14:section>
        <p14:section name="Les priorités" id="{b183cf77-b45d-cc6a-4157-cbdf645b59a8}">
          <p14:sldIdLst>
            <p14:sldId id="264"/>
            <p14:sldId id="265"/>
          </p14:sldIdLst>
        </p14:section>
        <p14:section name="Les solutions" id="{665f019b-41fc-90e6-b940-abac4bf956df}">
          <p14:sldIdLst>
            <p14:sldId id="266"/>
            <p14:sldId id="267"/>
            <p14:sldId id="268"/>
          </p14:sldIdLst>
        </p14:section>
        <p14:section name="La suite" id="{d7dff6b2-fdf9-00e9-e818-cb9c9ddc4271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de titre. Remplacez le nom du client, la date et, si besoin, le nom de l'intervenant·e.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1809750"/>
            <a:ext cx="5715000" cy="14287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Titre de la présentation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PARTI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19500" y="2114550"/>
            <a:ext cx="49530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Titre de la partie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CLAI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47700"/>
            <a:ext cx="7924800" cy="4953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Titre de la diapositive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COLONN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76300"/>
            <a:ext cx="22479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Titre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33400" y="685800"/>
            <a:ext cx="7620000" cy="4953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Titre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VIDE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dran"/>
          <p:cNvSpPr/>
          <p:nvPr/>
        </p:nvSpPr>
        <p:spPr>
          <a:xfrm>
            <a:off x="5524500" y="1524000"/>
            <a:ext cx="5334000" cy="53340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" name="Quart de cadran"/>
          <p:cNvSpPr/>
          <p:nvPr/>
        </p:nvSpPr>
        <p:spPr>
          <a:xfrm>
            <a:off x="5524500" y="1524000"/>
            <a:ext cx="5334000" cy="5334000"/>
          </a:xfrm>
          <a:prstGeom prst="pie">
            <a:avLst>
              <a:gd name="adj1" fmla="val 16200000"/>
              <a:gd name="adj2" fmla="val 21600000"/>
            </a:avLst>
          </a:prstGeom>
          <a:solidFill>
            <a:schemeClr val="accent1"/>
          </a:solidFill>
          <a:ln/>
        </p:spPr>
      </p:sp>
      <p:sp>
        <p:nvSpPr>
          <p:cNvPr id="4" name="Centre du cadran"/>
          <p:cNvSpPr/>
          <p:nvPr/>
        </p:nvSpPr>
        <p:spPr>
          <a:xfrm>
            <a:off x="8086725" y="4086225"/>
            <a:ext cx="209550" cy="20955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Image 0" descr="Temps Rend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76250"/>
            <a:ext cx="1439466" cy="2857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600" y="15811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RESTITUTION · AUDIT DES BESOINS</a:t>
            </a:r>
            <a:endParaRPr lang="en-US" sz="10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09600" y="1809750"/>
            <a:ext cx="5715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Diagnostic des tâches répétitives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344805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[Nom du client] · [date]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426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Dr Florence Charquet Mazeres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451485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Intervenante · facteurs humains et automatisation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571500"/>
            <a:ext cx="2190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 PROGRAMME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76300"/>
            <a:ext cx="2247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Sommaire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81000" y="15240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Durée : [1 h 30]</a:t>
            </a:r>
            <a:endParaRPr lang="en-US" sz="1200" dirty="0"/>
          </a:p>
        </p:txBody>
      </p:sp>
      <p:sp>
        <p:nvSpPr>
          <p:cNvPr id="5" name="Quart de cadran"/>
          <p:cNvSpPr/>
          <p:nvPr/>
        </p:nvSpPr>
        <p:spPr>
          <a:xfrm>
            <a:off x="1428750" y="3714750"/>
            <a:ext cx="2857500" cy="2857500"/>
          </a:xfrm>
          <a:prstGeom prst="pie">
            <a:avLst>
              <a:gd name="adj1" fmla="val 10800000"/>
              <a:gd name="adj2" fmla="val 16200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90900" y="74295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248150" y="742950"/>
            <a:ext cx="3714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 constat : ce que nous avons vu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58150" y="74295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5</a:t>
            </a:r>
            <a:endParaRPr lang="en-US" sz="1000" dirty="0"/>
          </a:p>
        </p:txBody>
      </p:sp>
      <p:sp>
        <p:nvSpPr>
          <p:cNvPr id="9" name="Séparateur"/>
          <p:cNvSpPr/>
          <p:nvPr/>
        </p:nvSpPr>
        <p:spPr>
          <a:xfrm>
            <a:off x="3390900" y="1495425"/>
            <a:ext cx="5238750" cy="0"/>
          </a:xfrm>
          <a:prstGeom prst="line">
            <a:avLst/>
          </a:prstGeom>
          <a:noFill/>
          <a:ln w="9525">
            <a:solidFill>
              <a:srgbClr val="C9D3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0900" y="167640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248150" y="1676400"/>
            <a:ext cx="3714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Les priorités : par où commencer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058150" y="16764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9</a:t>
            </a:r>
            <a:endParaRPr lang="en-US" sz="1000" dirty="0"/>
          </a:p>
        </p:txBody>
      </p:sp>
      <p:sp>
        <p:nvSpPr>
          <p:cNvPr id="13" name="Séparateur"/>
          <p:cNvSpPr/>
          <p:nvPr/>
        </p:nvSpPr>
        <p:spPr>
          <a:xfrm>
            <a:off x="3390900" y="2428875"/>
            <a:ext cx="5238750" cy="0"/>
          </a:xfrm>
          <a:prstGeom prst="line">
            <a:avLst/>
          </a:prstGeom>
          <a:noFill/>
          <a:ln w="9525">
            <a:solidFill>
              <a:srgbClr val="C9D3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90900" y="260985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248150" y="2609850"/>
            <a:ext cx="3714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Les solutions : ce qui change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058150" y="260985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11</a:t>
            </a:r>
            <a:endParaRPr lang="en-US" sz="1000" dirty="0"/>
          </a:p>
        </p:txBody>
      </p:sp>
      <p:sp>
        <p:nvSpPr>
          <p:cNvPr id="17" name="Séparateur"/>
          <p:cNvSpPr/>
          <p:nvPr/>
        </p:nvSpPr>
        <p:spPr>
          <a:xfrm>
            <a:off x="3390900" y="3362325"/>
            <a:ext cx="5238750" cy="0"/>
          </a:xfrm>
          <a:prstGeom prst="line">
            <a:avLst/>
          </a:prstGeom>
          <a:noFill/>
          <a:ln w="9525">
            <a:solidFill>
              <a:srgbClr val="C9D3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90900" y="354330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4248150" y="3543300"/>
            <a:ext cx="3714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La suite : comment on avance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58150" y="35433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14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19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NOTRE MÉTHODE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647700"/>
            <a:ext cx="7924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Quatre étapes, un quart d'heure à la fois</a:t>
            </a:r>
            <a:endParaRPr lang="en-US" sz="2400" dirty="0"/>
          </a:p>
        </p:txBody>
      </p:sp>
      <p:sp>
        <p:nvSpPr>
          <p:cNvPr id="4" name="Cadran étape 1"/>
          <p:cNvSpPr/>
          <p:nvPr/>
        </p:nvSpPr>
        <p:spPr>
          <a:xfrm>
            <a:off x="609600" y="1619250"/>
            <a:ext cx="800100" cy="8001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5" name="Quart de cadran"/>
          <p:cNvSpPr/>
          <p:nvPr/>
        </p:nvSpPr>
        <p:spPr>
          <a:xfrm>
            <a:off x="609600" y="1619250"/>
            <a:ext cx="800100" cy="800100"/>
          </a:xfrm>
          <a:prstGeom prst="pie">
            <a:avLst>
              <a:gd name="adj1" fmla="val 16200000"/>
              <a:gd name="adj2" fmla="val 21600000"/>
            </a:avLst>
          </a:prstGeom>
          <a:solidFill>
            <a:schemeClr val="accent1"/>
          </a:solidFill>
          <a:ln/>
        </p:spPr>
      </p:sp>
      <p:sp>
        <p:nvSpPr>
          <p:cNvPr id="6" name="Contour du cadran"/>
          <p:cNvSpPr/>
          <p:nvPr/>
        </p:nvSpPr>
        <p:spPr>
          <a:xfrm>
            <a:off x="609600" y="1619250"/>
            <a:ext cx="800100" cy="800100"/>
          </a:xfrm>
          <a:prstGeom prst="ellipse">
            <a:avLst/>
          </a:prstGeom>
          <a:ln w="28575">
            <a:solidFill>
              <a:srgbClr val="1323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96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ÉTAPE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2819400"/>
            <a:ext cx="1809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Diagnostic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314325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Observer le travail réel et mesurer le temps passé.</a:t>
            </a:r>
            <a:endParaRPr lang="en-US" sz="1150" dirty="0"/>
          </a:p>
        </p:txBody>
      </p:sp>
      <p:sp>
        <p:nvSpPr>
          <p:cNvPr id="10" name="Cadran étape 2"/>
          <p:cNvSpPr/>
          <p:nvPr/>
        </p:nvSpPr>
        <p:spPr>
          <a:xfrm>
            <a:off x="2647950" y="1619250"/>
            <a:ext cx="800100" cy="8001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1" name="Quart de cadran"/>
          <p:cNvSpPr/>
          <p:nvPr/>
        </p:nvSpPr>
        <p:spPr>
          <a:xfrm>
            <a:off x="2647950" y="1619250"/>
            <a:ext cx="800100" cy="800100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/>
        </p:spPr>
      </p:sp>
      <p:sp>
        <p:nvSpPr>
          <p:cNvPr id="12" name="Contour du cadran"/>
          <p:cNvSpPr/>
          <p:nvPr/>
        </p:nvSpPr>
        <p:spPr>
          <a:xfrm>
            <a:off x="2647950" y="1619250"/>
            <a:ext cx="800100" cy="800100"/>
          </a:xfrm>
          <a:prstGeom prst="ellipse">
            <a:avLst/>
          </a:prstGeom>
          <a:ln w="28575">
            <a:solidFill>
              <a:srgbClr val="1323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4795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ÉTAPE 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647950" y="2819400"/>
            <a:ext cx="1809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Priorités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647950" y="314325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Choisir ce qui rend le plus de temps pour le moins d'effort.</a:t>
            </a:r>
            <a:endParaRPr lang="en-US" sz="1150" dirty="0"/>
          </a:p>
        </p:txBody>
      </p:sp>
      <p:sp>
        <p:nvSpPr>
          <p:cNvPr id="16" name="Cadran étape 3"/>
          <p:cNvSpPr/>
          <p:nvPr/>
        </p:nvSpPr>
        <p:spPr>
          <a:xfrm>
            <a:off x="4686300" y="1619250"/>
            <a:ext cx="800100" cy="8001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7" name="Quart de cadran"/>
          <p:cNvSpPr/>
          <p:nvPr/>
        </p:nvSpPr>
        <p:spPr>
          <a:xfrm>
            <a:off x="4686300" y="1619250"/>
            <a:ext cx="800100" cy="800100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/>
        </p:spPr>
      </p:sp>
      <p:sp>
        <p:nvSpPr>
          <p:cNvPr id="18" name="Contour du cadran"/>
          <p:cNvSpPr/>
          <p:nvPr/>
        </p:nvSpPr>
        <p:spPr>
          <a:xfrm>
            <a:off x="4686300" y="1619250"/>
            <a:ext cx="800100" cy="800100"/>
          </a:xfrm>
          <a:prstGeom prst="ellipse">
            <a:avLst/>
          </a:prstGeom>
          <a:ln w="28575">
            <a:solidFill>
              <a:srgbClr val="1323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863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ÉTAPE 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686300" y="2819400"/>
            <a:ext cx="1809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Construction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86300" y="314325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Mettre en place avec vos outils, tester sur vos vrais cas.</a:t>
            </a:r>
            <a:endParaRPr lang="en-US" sz="1150" dirty="0"/>
          </a:p>
        </p:txBody>
      </p:sp>
      <p:sp>
        <p:nvSpPr>
          <p:cNvPr id="22" name="Cadran étape 4"/>
          <p:cNvSpPr/>
          <p:nvPr/>
        </p:nvSpPr>
        <p:spPr>
          <a:xfrm>
            <a:off x="6724650" y="1619250"/>
            <a:ext cx="800100" cy="8001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3" name="Cadran plein"/>
          <p:cNvSpPr/>
          <p:nvPr/>
        </p:nvSpPr>
        <p:spPr>
          <a:xfrm>
            <a:off x="6724650" y="1619250"/>
            <a:ext cx="800100" cy="8001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Contour du cadran"/>
          <p:cNvSpPr/>
          <p:nvPr/>
        </p:nvSpPr>
        <p:spPr>
          <a:xfrm>
            <a:off x="6724650" y="1619250"/>
            <a:ext cx="800100" cy="800100"/>
          </a:xfrm>
          <a:prstGeom prst="ellipse">
            <a:avLst/>
          </a:prstGeom>
          <a:ln w="28575">
            <a:solidFill>
              <a:srgbClr val="1323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465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ÉTAPE 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724650" y="2819400"/>
            <a:ext cx="1809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Prise en main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724650" y="314325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Former l'équipe à utiliser et ajuster.</a:t>
            </a:r>
            <a:endParaRPr lang="en-US" sz="1150" dirty="0"/>
          </a:p>
        </p:txBody>
      </p:sp>
      <p:sp>
        <p:nvSpPr>
          <p:cNvPr id="28" name="Pastille"/>
          <p:cNvSpPr/>
          <p:nvPr/>
        </p:nvSpPr>
        <p:spPr>
          <a:xfrm>
            <a:off x="2647950" y="4000500"/>
            <a:ext cx="1714500" cy="266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647950" y="40005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Nous en sommes ici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49530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 DIAGNOSTIC EN BREF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76300"/>
            <a:ext cx="2247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Comment nous avons travaillé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81000" y="2209800"/>
            <a:ext cx="2190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12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381000" y="3257550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personnes rencontrées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3543300"/>
            <a:ext cx="2190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du [date] au [date]</a:t>
            </a:r>
            <a:endParaRPr lang="en-US" sz="1150" dirty="0"/>
          </a:p>
        </p:txBody>
      </p:sp>
      <p:sp>
        <p:nvSpPr>
          <p:cNvPr id="7" name="Quart de cadran"/>
          <p:cNvSpPr/>
          <p:nvPr/>
        </p:nvSpPr>
        <p:spPr>
          <a:xfrm>
            <a:off x="1619250" y="3905250"/>
            <a:ext cx="2476500" cy="2476500"/>
          </a:xfrm>
          <a:prstGeom prst="pie">
            <a:avLst>
              <a:gd name="adj1" fmla="val 10800000"/>
              <a:gd name="adj2" fmla="val 16200000"/>
            </a:avLst>
          </a:prstGeom>
          <a:solidFill>
            <a:schemeClr val="accent1"/>
          </a:solidFill>
          <a:ln/>
        </p:spPr>
      </p:sp>
      <p:sp>
        <p:nvSpPr>
          <p:cNvPr id="8" name="Carte chiffre"/>
          <p:cNvSpPr/>
          <p:nvPr/>
        </p:nvSpPr>
        <p:spPr>
          <a:xfrm>
            <a:off x="3352800" y="419100"/>
            <a:ext cx="16383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4250" y="53340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24250" y="971550"/>
            <a:ext cx="1381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postes observés</a:t>
            </a:r>
            <a:endParaRPr lang="en-US" sz="1050" dirty="0"/>
          </a:p>
        </p:txBody>
      </p:sp>
      <p:sp>
        <p:nvSpPr>
          <p:cNvPr id="11" name="Carte chiffre"/>
          <p:cNvSpPr/>
          <p:nvPr/>
        </p:nvSpPr>
        <p:spPr>
          <a:xfrm>
            <a:off x="5124450" y="419100"/>
            <a:ext cx="16383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95900" y="53340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18 h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295900" y="971550"/>
            <a:ext cx="1381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d'observation sur le terrain</a:t>
            </a:r>
            <a:endParaRPr lang="en-US" sz="1050" dirty="0"/>
          </a:p>
        </p:txBody>
      </p:sp>
      <p:sp>
        <p:nvSpPr>
          <p:cNvPr id="14" name="Carte chiffre"/>
          <p:cNvSpPr/>
          <p:nvPr/>
        </p:nvSpPr>
        <p:spPr>
          <a:xfrm>
            <a:off x="6896100" y="419100"/>
            <a:ext cx="16383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67550" y="53340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067550" y="971550"/>
            <a:ext cx="1381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services concernés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52800" y="1581150"/>
          <a:ext cx="5181600" cy="914400"/>
        </p:xfrm>
        <a:graphic>
          <a:graphicData uri="http://schemas.openxmlformats.org/drawingml/2006/table">
            <a:tbl>
              <a:tblPr/>
              <a:tblGrid>
                <a:gridCol w="1809750"/>
                <a:gridCol w="1428750"/>
                <a:gridCol w="876300"/>
                <a:gridCol w="10668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accent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POSTE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3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accent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SERVICE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3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accent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ENTRETIENS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3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accent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OBSERVATION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3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Assistante commerciale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Commercial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Oui · 6 h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Chargé·e de clientèle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Commercial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Oui · 5 h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Comptable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Administration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Oui · 4 h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Responsable RH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Ressources humaines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Oui · 3 h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Direction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Direction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Non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3352800" y="438150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Exemple à remplacer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art de cadran"/>
          <p:cNvSpPr/>
          <p:nvPr/>
        </p:nvSpPr>
        <p:spPr>
          <a:xfrm>
            <a:off x="-2476500" y="-2476500"/>
            <a:ext cx="5905500" cy="5905500"/>
          </a:xfrm>
          <a:prstGeom prst="pie">
            <a:avLst>
              <a:gd name="adj1" fmla="val 0"/>
              <a:gd name="adj2" fmla="val 540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47625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chemeClr val="tx1">
                    <a:alpha val="12000"/>
                  </a:schemeClr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3619500" y="18097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01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619500" y="211455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 constat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619500" y="335280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2A00"/>
                </a:solidFill>
              </a:rPr>
              <a:t>Ce que nous avons vu sur le terrain.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art de cadran"/>
          <p:cNvSpPr/>
          <p:nvPr/>
        </p:nvSpPr>
        <p:spPr>
          <a:xfrm>
            <a:off x="8096250" y="-1047750"/>
            <a:ext cx="2095500" cy="2095500"/>
          </a:xfrm>
          <a:prstGeom prst="pie">
            <a:avLst>
              <a:gd name="adj1" fmla="val 5400000"/>
              <a:gd name="adj2" fmla="val 1080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419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LE CONSTAT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09600" y="647700"/>
            <a:ext cx="7924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Une matinée type, aujourd'hui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61925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h</a:t>
            </a:r>
            <a:endParaRPr lang="en-US" sz="1050" dirty="0"/>
          </a:p>
        </p:txBody>
      </p:sp>
      <p:sp>
        <p:nvSpPr>
          <p:cNvPr id="6" name="Créneau répétitif"/>
          <p:cNvSpPr/>
          <p:nvPr/>
        </p:nvSpPr>
        <p:spPr>
          <a:xfrm>
            <a:off x="1333500" y="1428750"/>
            <a:ext cx="7200900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43050" y="1543050"/>
            <a:ext cx="533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Recopier les demandes du formulaire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43050" y="18097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Gmail vers le tableau de suivi, une par une</a:t>
            </a:r>
            <a:endParaRPr lang="en-US" sz="1100" dirty="0"/>
          </a:p>
        </p:txBody>
      </p:sp>
      <p:sp>
        <p:nvSpPr>
          <p:cNvPr id="9" name="Pastille"/>
          <p:cNvSpPr/>
          <p:nvPr/>
        </p:nvSpPr>
        <p:spPr>
          <a:xfrm>
            <a:off x="7524750" y="1638300"/>
            <a:ext cx="800100" cy="266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24750" y="16383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45 min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241935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h</a:t>
            </a:r>
            <a:endParaRPr lang="en-US" sz="1050" dirty="0"/>
          </a:p>
        </p:txBody>
      </p:sp>
      <p:sp>
        <p:nvSpPr>
          <p:cNvPr id="12" name="Créneau à valeur"/>
          <p:cNvSpPr/>
          <p:nvPr/>
        </p:nvSpPr>
        <p:spPr>
          <a:xfrm>
            <a:off x="1333500" y="2228850"/>
            <a:ext cx="72009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43050" y="2343150"/>
            <a:ext cx="533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Rendez-vous client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43050" y="26098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Le cœur du métier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524750" y="24384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 min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321945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h</a:t>
            </a:r>
            <a:endParaRPr lang="en-US" sz="1050" dirty="0"/>
          </a:p>
        </p:txBody>
      </p:sp>
      <p:sp>
        <p:nvSpPr>
          <p:cNvPr id="17" name="Créneau répétitif"/>
          <p:cNvSpPr/>
          <p:nvPr/>
        </p:nvSpPr>
        <p:spPr>
          <a:xfrm>
            <a:off x="1333500" y="3028950"/>
            <a:ext cx="7200900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43050" y="3143250"/>
            <a:ext cx="533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Relancer les devis sans réponse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43050" y="34099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De mémoire, quand on y pense</a:t>
            </a:r>
            <a:endParaRPr lang="en-US" sz="1100" dirty="0"/>
          </a:p>
        </p:txBody>
      </p:sp>
      <p:sp>
        <p:nvSpPr>
          <p:cNvPr id="20" name="Pastille"/>
          <p:cNvSpPr/>
          <p:nvPr/>
        </p:nvSpPr>
        <p:spPr>
          <a:xfrm>
            <a:off x="7524750" y="3238500"/>
            <a:ext cx="800100" cy="266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24750" y="32385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30 min</a:t>
            </a:r>
            <a:endParaRPr lang="en-US" sz="1050" dirty="0"/>
          </a:p>
        </p:txBody>
      </p:sp>
      <p:sp>
        <p:nvSpPr>
          <p:cNvPr id="22" name="Légende"/>
          <p:cNvSpPr/>
          <p:nvPr/>
        </p:nvSpPr>
        <p:spPr>
          <a:xfrm>
            <a:off x="609600" y="4038600"/>
            <a:ext cx="133350" cy="133350"/>
          </a:xfrm>
          <a:prstGeom prst="roundRect">
            <a:avLst>
              <a:gd name="adj" fmla="val 20571"/>
            </a:avLst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9150" y="401002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Répétitif, automatisable</a:t>
            </a:r>
            <a:endParaRPr lang="en-US" sz="1050" dirty="0"/>
          </a:p>
        </p:txBody>
      </p:sp>
      <p:sp>
        <p:nvSpPr>
          <p:cNvPr id="24" name="Légende"/>
          <p:cNvSpPr/>
          <p:nvPr/>
        </p:nvSpPr>
        <p:spPr>
          <a:xfrm>
            <a:off x="2628900" y="4038600"/>
            <a:ext cx="133350" cy="133350"/>
          </a:xfrm>
          <a:prstGeom prst="roundRect">
            <a:avLst>
              <a:gd name="adj" fmla="val 20571"/>
            </a:avLst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38450" y="401002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Travail à valeur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334000" y="3962400"/>
            <a:ext cx="320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1 h 15</a:t>
            </a:r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de répétitif sur 2 h 15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2762250"/>
            <a:ext cx="2190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chemeClr val="accent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571500"/>
            <a:ext cx="2190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 CONSTAT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381000" y="876300"/>
            <a:ext cx="2247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Ce que nous avons observé</a:t>
            </a:r>
            <a:endParaRPr lang="en-US" sz="2400" dirty="0"/>
          </a:p>
        </p:txBody>
      </p:sp>
      <p:sp>
        <p:nvSpPr>
          <p:cNvPr id="5" name="Quart de cadran"/>
          <p:cNvSpPr/>
          <p:nvPr/>
        </p:nvSpPr>
        <p:spPr>
          <a:xfrm>
            <a:off x="-1143000" y="4000500"/>
            <a:ext cx="2476500" cy="2476500"/>
          </a:xfrm>
          <a:prstGeom prst="pie">
            <a:avLst>
              <a:gd name="adj1" fmla="val 16200000"/>
              <a:gd name="adj2" fmla="val 21600000"/>
            </a:avLst>
          </a:prstGeom>
          <a:solidFill>
            <a:schemeClr val="accent1"/>
          </a:solidFill>
          <a:ln/>
        </p:spPr>
      </p:sp>
      <p:sp>
        <p:nvSpPr>
          <p:cNvPr id="6" name="Pastille icône"/>
          <p:cNvSpPr/>
          <p:nvPr/>
        </p:nvSpPr>
        <p:spPr>
          <a:xfrm>
            <a:off x="3390900" y="800100"/>
            <a:ext cx="533400" cy="533400"/>
          </a:xfrm>
          <a:prstGeom prst="ellipse">
            <a:avLst/>
          </a:prstGeom>
          <a:solidFill>
            <a:srgbClr val="FBEFCF"/>
          </a:solidFill>
          <a:ln/>
        </p:spPr>
      </p:sp>
      <p:pic>
        <p:nvPicPr>
          <p:cNvPr id="7" name="Image 0" descr="Des saisies en dou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0" y="933450"/>
            <a:ext cx="266700" cy="2667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114800" y="81915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Des saisies en double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112395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Les mêmes informations sont tapées dans le tableau de suivi puis dans le logiciel de facturation.</a:t>
            </a:r>
            <a:endParaRPr lang="en-US" sz="1200" dirty="0"/>
          </a:p>
        </p:txBody>
      </p:sp>
      <p:sp>
        <p:nvSpPr>
          <p:cNvPr id="10" name="Pastille icône"/>
          <p:cNvSpPr/>
          <p:nvPr/>
        </p:nvSpPr>
        <p:spPr>
          <a:xfrm>
            <a:off x="3390900" y="2057400"/>
            <a:ext cx="533400" cy="533400"/>
          </a:xfrm>
          <a:prstGeom prst="ellipse">
            <a:avLst/>
          </a:prstGeom>
          <a:solidFill>
            <a:srgbClr val="FBEFCF"/>
          </a:solidFill>
          <a:ln/>
        </p:spPr>
      </p:sp>
      <p:pic>
        <p:nvPicPr>
          <p:cNvPr id="11" name="Image 1" descr="Des demandes dispersé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2190750"/>
            <a:ext cx="266700" cy="2667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0" y="207645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Des demandes dispersées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114800" y="238125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Elles arrivent par mail, téléphone et formulaire, sans liste commune.</a:t>
            </a:r>
            <a:endParaRPr lang="en-US" sz="1200" dirty="0"/>
          </a:p>
        </p:txBody>
      </p:sp>
      <p:sp>
        <p:nvSpPr>
          <p:cNvPr id="14" name="Pastille icône"/>
          <p:cNvSpPr/>
          <p:nvPr/>
        </p:nvSpPr>
        <p:spPr>
          <a:xfrm>
            <a:off x="3390900" y="3314700"/>
            <a:ext cx="533400" cy="533400"/>
          </a:xfrm>
          <a:prstGeom prst="ellipse">
            <a:avLst/>
          </a:prstGeom>
          <a:solidFill>
            <a:srgbClr val="FBEFCF"/>
          </a:solidFill>
          <a:ln/>
        </p:spPr>
      </p:sp>
      <p:pic>
        <p:nvPicPr>
          <p:cNvPr id="15" name="Image 2" descr="Des relances faites de mémoi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0" y="3448050"/>
            <a:ext cx="266700" cy="2667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114800" y="333375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Des relances faites de mémoire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114800" y="363855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Chacun relance quand il y pense ; certains devis restent sans suite.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art de cadran"/>
          <p:cNvSpPr/>
          <p:nvPr/>
        </p:nvSpPr>
        <p:spPr>
          <a:xfrm>
            <a:off x="-1619250" y="3524250"/>
            <a:ext cx="3238500" cy="3238500"/>
          </a:xfrm>
          <a:prstGeom prst="pie">
            <a:avLst>
              <a:gd name="adj1" fmla="val 16200000"/>
              <a:gd name="adj2" fmla="val 2160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0600" y="533400"/>
            <a:ext cx="114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«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1333500" y="2000250"/>
            <a:ext cx="666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 lundi matin, je recopie tout ce qui est arrivé pendant le week-end. Quand j'ai fini, il est 11 h.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33500" y="35814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Assistante commerciale · entretien du [date]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667500" y="4762500"/>
            <a:ext cx="2171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PAROLE DE TERRAIN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art de cadran"/>
          <p:cNvSpPr/>
          <p:nvPr/>
        </p:nvSpPr>
        <p:spPr>
          <a:xfrm>
            <a:off x="-2476500" y="-2476500"/>
            <a:ext cx="5905500" cy="5905500"/>
          </a:xfrm>
          <a:prstGeom prst="pie">
            <a:avLst>
              <a:gd name="adj1" fmla="val 0"/>
              <a:gd name="adj2" fmla="val 540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47625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chemeClr val="tx1">
                    <a:alpha val="12000"/>
                  </a:schemeClr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3619500" y="18097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02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619500" y="211455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Les priorités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619500" y="335280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2A00"/>
                </a:solidFill>
              </a:rPr>
              <a:t>Par où commencer pour rendre le plus de temps.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19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LES PRIORITÉS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647700"/>
            <a:ext cx="7924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Par où commencer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00100" y="139065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TÂCHE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39065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TEMPS RENDU / 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77000" y="139065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FACILITÉ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620000" y="139065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PRIORITÉ</a:t>
            </a:r>
            <a:endParaRPr lang="en-US" sz="900" dirty="0"/>
          </a:p>
        </p:txBody>
      </p:sp>
      <p:sp>
        <p:nvSpPr>
          <p:cNvPr id="8" name="Ligne prioritaire"/>
          <p:cNvSpPr/>
          <p:nvPr/>
        </p:nvSpPr>
        <p:spPr>
          <a:xfrm>
            <a:off x="609600" y="1619250"/>
            <a:ext cx="7924800" cy="53340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0100" y="16192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Tri des demandes entrantes</a:t>
            </a:r>
            <a:endParaRPr lang="en-US" sz="1500" dirty="0"/>
          </a:p>
        </p:txBody>
      </p:sp>
      <p:sp>
        <p:nvSpPr>
          <p:cNvPr id="10" name="Barre de temps"/>
          <p:cNvSpPr/>
          <p:nvPr/>
        </p:nvSpPr>
        <p:spPr>
          <a:xfrm>
            <a:off x="4572000" y="1838325"/>
            <a:ext cx="1143000" cy="95250"/>
          </a:xfrm>
          <a:prstGeom prst="roundRect">
            <a:avLst>
              <a:gd name="adj" fmla="val 48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10250" y="1619250"/>
            <a:ext cx="66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143 h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77000" y="161925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Moyenne</a:t>
            </a:r>
            <a:endParaRPr lang="en-US" sz="1200" dirty="0"/>
          </a:p>
        </p:txBody>
      </p:sp>
      <p:sp>
        <p:nvSpPr>
          <p:cNvPr id="13" name="Pastille"/>
          <p:cNvSpPr/>
          <p:nvPr/>
        </p:nvSpPr>
        <p:spPr>
          <a:xfrm>
            <a:off x="7620000" y="1752600"/>
            <a:ext cx="762000" cy="266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20000" y="175260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Haute</a:t>
            </a:r>
            <a:endParaRPr lang="en-US" sz="1050" dirty="0"/>
          </a:p>
        </p:txBody>
      </p:sp>
      <p:sp>
        <p:nvSpPr>
          <p:cNvPr id="15" name="Ligne"/>
          <p:cNvSpPr/>
          <p:nvPr/>
        </p:nvSpPr>
        <p:spPr>
          <a:xfrm>
            <a:off x="609600" y="2247900"/>
            <a:ext cx="7924800" cy="53340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0100" y="2247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Relance des devis</a:t>
            </a:r>
            <a:endParaRPr lang="en-US" sz="1500" dirty="0"/>
          </a:p>
        </p:txBody>
      </p:sp>
      <p:sp>
        <p:nvSpPr>
          <p:cNvPr id="17" name="Barre de temps"/>
          <p:cNvSpPr/>
          <p:nvPr/>
        </p:nvSpPr>
        <p:spPr>
          <a:xfrm>
            <a:off x="4572000" y="2466975"/>
            <a:ext cx="879231" cy="95250"/>
          </a:xfrm>
          <a:prstGeom prst="roundRect">
            <a:avLst>
              <a:gd name="adj" fmla="val 48000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46481" y="2247900"/>
            <a:ext cx="66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110 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77000" y="224790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Simple</a:t>
            </a:r>
            <a:endParaRPr lang="en-US" sz="1200" dirty="0"/>
          </a:p>
        </p:txBody>
      </p:sp>
      <p:sp>
        <p:nvSpPr>
          <p:cNvPr id="20" name="Pastille"/>
          <p:cNvSpPr/>
          <p:nvPr/>
        </p:nvSpPr>
        <p:spPr>
          <a:xfrm>
            <a:off x="7620000" y="2381250"/>
            <a:ext cx="762000" cy="266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20000" y="238125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Haute</a:t>
            </a:r>
            <a:endParaRPr lang="en-US" sz="1050" dirty="0"/>
          </a:p>
        </p:txBody>
      </p:sp>
      <p:sp>
        <p:nvSpPr>
          <p:cNvPr id="22" name="Ligne"/>
          <p:cNvSpPr/>
          <p:nvPr/>
        </p:nvSpPr>
        <p:spPr>
          <a:xfrm>
            <a:off x="609600" y="2876550"/>
            <a:ext cx="7924800" cy="53340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0100" y="28765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Classement des factures</a:t>
            </a:r>
            <a:endParaRPr lang="en-US" sz="1500" dirty="0"/>
          </a:p>
        </p:txBody>
      </p:sp>
      <p:sp>
        <p:nvSpPr>
          <p:cNvPr id="24" name="Barre de temps"/>
          <p:cNvSpPr/>
          <p:nvPr/>
        </p:nvSpPr>
        <p:spPr>
          <a:xfrm>
            <a:off x="4572000" y="3095625"/>
            <a:ext cx="583490" cy="95250"/>
          </a:xfrm>
          <a:prstGeom prst="roundRect">
            <a:avLst>
              <a:gd name="adj" fmla="val 48000"/>
            </a:avLst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50740" y="2876550"/>
            <a:ext cx="66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73 h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77000" y="287655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Simple</a:t>
            </a:r>
            <a:endParaRPr lang="en-US" sz="1200" dirty="0"/>
          </a:p>
        </p:txBody>
      </p:sp>
      <p:sp>
        <p:nvSpPr>
          <p:cNvPr id="27" name="Pastille"/>
          <p:cNvSpPr/>
          <p:nvPr/>
        </p:nvSpPr>
        <p:spPr>
          <a:xfrm>
            <a:off x="7620000" y="30099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FBEFC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20000" y="300990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Moyenne</a:t>
            </a:r>
            <a:endParaRPr lang="en-US" sz="1050" dirty="0"/>
          </a:p>
        </p:txBody>
      </p:sp>
      <p:sp>
        <p:nvSpPr>
          <p:cNvPr id="29" name="Ligne"/>
          <p:cNvSpPr/>
          <p:nvPr/>
        </p:nvSpPr>
        <p:spPr>
          <a:xfrm>
            <a:off x="609600" y="3505200"/>
            <a:ext cx="7924800" cy="53340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0100" y="35052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Tableau de bord mensuel</a:t>
            </a:r>
            <a:endParaRPr lang="en-US" sz="1500" dirty="0"/>
          </a:p>
        </p:txBody>
      </p:sp>
      <p:sp>
        <p:nvSpPr>
          <p:cNvPr id="31" name="Barre de temps"/>
          <p:cNvSpPr/>
          <p:nvPr/>
        </p:nvSpPr>
        <p:spPr>
          <a:xfrm>
            <a:off x="4572000" y="3724275"/>
            <a:ext cx="407643" cy="95250"/>
          </a:xfrm>
          <a:prstGeom prst="roundRect">
            <a:avLst>
              <a:gd name="adj" fmla="val 48000"/>
            </a:avLst>
          </a:prstGeom>
          <a:solidFill>
            <a:schemeClr val="accent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074893" y="3505200"/>
            <a:ext cx="66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 h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77000" y="350520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Complexe</a:t>
            </a:r>
            <a:endParaRPr lang="en-US" sz="1200" dirty="0"/>
          </a:p>
        </p:txBody>
      </p:sp>
      <p:sp>
        <p:nvSpPr>
          <p:cNvPr id="34" name="Pastille"/>
          <p:cNvSpPr/>
          <p:nvPr/>
        </p:nvSpPr>
        <p:spPr>
          <a:xfrm>
            <a:off x="7620000" y="3638550"/>
            <a:ext cx="762000" cy="2667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20000" y="363855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Basse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art de cadran"/>
          <p:cNvSpPr/>
          <p:nvPr/>
        </p:nvSpPr>
        <p:spPr>
          <a:xfrm>
            <a:off x="-2476500" y="-2476500"/>
            <a:ext cx="5905500" cy="5905500"/>
          </a:xfrm>
          <a:prstGeom prst="pie">
            <a:avLst>
              <a:gd name="adj1" fmla="val 0"/>
              <a:gd name="adj2" fmla="val 540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47625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chemeClr val="tx1">
                    <a:alpha val="12000"/>
                  </a:schemeClr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3619500" y="18097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03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619500" y="211455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Les solutions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619500" y="335280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2A00"/>
                </a:solidFill>
              </a:rPr>
              <a:t>Ce que l'automatisation change au quotidien.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itié avant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Quart de cadran"/>
          <p:cNvSpPr/>
          <p:nvPr/>
        </p:nvSpPr>
        <p:spPr>
          <a:xfrm>
            <a:off x="8001000" y="4000500"/>
            <a:ext cx="2286000" cy="2286000"/>
          </a:xfrm>
          <a:prstGeom prst="pie">
            <a:avLst>
              <a:gd name="adj1" fmla="val 10800000"/>
              <a:gd name="adj2" fmla="val 1620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6096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876300"/>
            <a:ext cx="3524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Tout à la main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6096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APRÈS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87630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 temps revient au métier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1905000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B2C1E"/>
                </a:solidFill>
              </a:rPr>
              <a:t>×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Demandes reçues dans 3 endroits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2400300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B2C1E"/>
                </a:solidFill>
              </a:rPr>
              <a:t>×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Relances faites quand on y pense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2895600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B2C1E"/>
                </a:solidFill>
              </a:rPr>
              <a:t>×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45 min par jour de copier-coller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905000"/>
            <a:ext cx="3714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Toutes les demandes dans un seul tableau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400300"/>
            <a:ext cx="3714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Relance automatique à J+7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895600"/>
            <a:ext cx="3714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 h 53 par semaine rendue à chacun</a:t>
            </a:r>
            <a:endParaRPr lang="en-US" sz="1300" dirty="0"/>
          </a:p>
        </p:txBody>
      </p:sp>
      <p:sp>
        <p:nvSpPr>
          <p:cNvPr id="14" name="Flèche"/>
          <p:cNvSpPr/>
          <p:nvPr/>
        </p:nvSpPr>
        <p:spPr>
          <a:xfrm>
            <a:off x="4267200" y="2266950"/>
            <a:ext cx="609600" cy="609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0" descr="v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0" y="241935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 TEMPS RENDU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33400" y="685800"/>
            <a:ext cx="7620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Ce que l'équipe récupère</a:t>
            </a:r>
            <a:endParaRPr lang="en-US" sz="2800" dirty="0"/>
          </a:p>
        </p:txBody>
      </p:sp>
      <p:sp>
        <p:nvSpPr>
          <p:cNvPr id="4" name="Cercle chiffre"/>
          <p:cNvSpPr/>
          <p:nvPr/>
        </p:nvSpPr>
        <p:spPr>
          <a:xfrm>
            <a:off x="838200" y="1428750"/>
            <a:ext cx="1905000" cy="19050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8200" y="1428750"/>
            <a:ext cx="190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413 h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7700" y="350520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rendues chaque année à l'équipe</a:t>
            </a:r>
            <a:endParaRPr lang="en-US" sz="1250" dirty="0"/>
          </a:p>
        </p:txBody>
      </p:sp>
      <p:sp>
        <p:nvSpPr>
          <p:cNvPr id="7" name="Quart de cadran"/>
          <p:cNvSpPr/>
          <p:nvPr/>
        </p:nvSpPr>
        <p:spPr>
          <a:xfrm>
            <a:off x="3581400" y="1428750"/>
            <a:ext cx="1905000" cy="1905000"/>
          </a:xfrm>
          <a:prstGeom prst="pie">
            <a:avLst>
              <a:gd name="adj1" fmla="val 16200000"/>
              <a:gd name="adj2" fmla="val 21600000"/>
            </a:avLst>
          </a:prstGeom>
          <a:solidFill>
            <a:schemeClr val="accent6"/>
          </a:solidFill>
          <a:ln/>
        </p:spPr>
      </p:sp>
      <p:sp>
        <p:nvSpPr>
          <p:cNvPr id="8" name="Contour"/>
          <p:cNvSpPr/>
          <p:nvPr/>
        </p:nvSpPr>
        <p:spPr>
          <a:xfrm>
            <a:off x="3581400" y="1428750"/>
            <a:ext cx="1905000" cy="1905000"/>
          </a:xfrm>
          <a:prstGeom prst="ellipse">
            <a:avLst/>
          </a:prstGeom>
          <a:ln w="38100">
            <a:solidFill>
              <a:srgbClr val="F0B4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1400" y="1428750"/>
            <a:ext cx="190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59 j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390900" y="350520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de travail retrouvés</a:t>
            </a:r>
            <a:endParaRPr lang="en-US" sz="1250" dirty="0"/>
          </a:p>
        </p:txBody>
      </p:sp>
      <p:sp>
        <p:nvSpPr>
          <p:cNvPr id="11" name="Cercle chiffre"/>
          <p:cNvSpPr/>
          <p:nvPr/>
        </p:nvSpPr>
        <p:spPr>
          <a:xfrm>
            <a:off x="6324600" y="1428750"/>
            <a:ext cx="1905000" cy="190500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24600" y="1428750"/>
            <a:ext cx="190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1 h 53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134100" y="350520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par personne et par semaine, pour la relation client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3400" y="4476750"/>
            <a:ext cx="666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Exemple · estimation à partir de 5 postes observés, 220 jours travaillés par an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art de cadran"/>
          <p:cNvSpPr/>
          <p:nvPr/>
        </p:nvSpPr>
        <p:spPr>
          <a:xfrm>
            <a:off x="-2476500" y="-2476500"/>
            <a:ext cx="5905500" cy="5905500"/>
          </a:xfrm>
          <a:prstGeom prst="pie">
            <a:avLst>
              <a:gd name="adj1" fmla="val 0"/>
              <a:gd name="adj2" fmla="val 540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47625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chemeClr val="tx1">
                    <a:alpha val="12000"/>
                  </a:schemeClr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3619500" y="18097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04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619500" y="211455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La suite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619500" y="335280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2A00"/>
                </a:solidFill>
              </a:rPr>
              <a:t>Comment nous avançons ensemble.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19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PLAN D'ACTION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647700"/>
            <a:ext cx="7924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Les six prochaines semaines</a:t>
            </a:r>
            <a:endParaRPr lang="en-US" sz="2400" dirty="0"/>
          </a:p>
        </p:txBody>
      </p:sp>
      <p:sp>
        <p:nvSpPr>
          <p:cNvPr id="4" name="Frise"/>
          <p:cNvSpPr/>
          <p:nvPr/>
        </p:nvSpPr>
        <p:spPr>
          <a:xfrm>
            <a:off x="609600" y="1866900"/>
            <a:ext cx="7924800" cy="38100"/>
          </a:xfrm>
          <a:prstGeom prst="roundRect">
            <a:avLst>
              <a:gd name="adj" fmla="val 48000"/>
            </a:avLst>
          </a:prstGeom>
          <a:solidFill>
            <a:srgbClr val="C9D3CE"/>
          </a:solidFill>
          <a:ln/>
        </p:spPr>
      </p:sp>
      <p:sp>
        <p:nvSpPr>
          <p:cNvPr id="5" name="Avancement"/>
          <p:cNvSpPr/>
          <p:nvPr/>
        </p:nvSpPr>
        <p:spPr>
          <a:xfrm>
            <a:off x="609600" y="1866900"/>
            <a:ext cx="3009900" cy="38100"/>
          </a:xfrm>
          <a:prstGeom prst="roundRect">
            <a:avLst>
              <a:gd name="adj" fmla="val 48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9600" y="15240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SEMAINE 1</a:t>
            </a:r>
            <a:endParaRPr lang="en-US" sz="1000" dirty="0"/>
          </a:p>
        </p:txBody>
      </p:sp>
      <p:sp>
        <p:nvSpPr>
          <p:cNvPr id="7" name="Jalon"/>
          <p:cNvSpPr/>
          <p:nvPr/>
        </p:nvSpPr>
        <p:spPr>
          <a:xfrm>
            <a:off x="609600" y="1781175"/>
            <a:ext cx="209550" cy="20955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4F6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9600" y="2171700"/>
            <a:ext cx="1866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Validation des priorités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2686050"/>
            <a:ext cx="180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Direction · réunion de 1 h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638425" y="15240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SEMAINE 2</a:t>
            </a:r>
            <a:endParaRPr lang="en-US" sz="1000" dirty="0"/>
          </a:p>
        </p:txBody>
      </p:sp>
      <p:sp>
        <p:nvSpPr>
          <p:cNvPr id="11" name="Jalon"/>
          <p:cNvSpPr/>
          <p:nvPr/>
        </p:nvSpPr>
        <p:spPr>
          <a:xfrm>
            <a:off x="2638425" y="1781175"/>
            <a:ext cx="209550" cy="20955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4F6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38425" y="2171700"/>
            <a:ext cx="1866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Accès aux outils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38425" y="2686050"/>
            <a:ext cx="180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Google, logiciel de facturation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67250" y="15240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SEMAINES 3 À 5</a:t>
            </a:r>
            <a:endParaRPr lang="en-US" sz="1000" dirty="0"/>
          </a:p>
        </p:txBody>
      </p:sp>
      <p:sp>
        <p:nvSpPr>
          <p:cNvPr id="15" name="Jalon"/>
          <p:cNvSpPr/>
          <p:nvPr/>
        </p:nvSpPr>
        <p:spPr>
          <a:xfrm>
            <a:off x="4667250" y="1781175"/>
            <a:ext cx="209550" cy="20955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4F6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7250" y="2171700"/>
            <a:ext cx="1866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Mise en place et tests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67250" y="2686050"/>
            <a:ext cx="180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3 automatisations, sur vos vrais cas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96075" y="15240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SEMAINE 6</a:t>
            </a:r>
            <a:endParaRPr lang="en-US" sz="1000" dirty="0"/>
          </a:p>
        </p:txBody>
      </p:sp>
      <p:sp>
        <p:nvSpPr>
          <p:cNvPr id="19" name="Jalon"/>
          <p:cNvSpPr/>
          <p:nvPr/>
        </p:nvSpPr>
        <p:spPr>
          <a:xfrm>
            <a:off x="6696075" y="1781175"/>
            <a:ext cx="209550" cy="20955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4F6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6075" y="2171700"/>
            <a:ext cx="1866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Prise en main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96075" y="2686050"/>
            <a:ext cx="180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2 h avec l'équipe, puis suivi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dran"/>
          <p:cNvSpPr/>
          <p:nvPr/>
        </p:nvSpPr>
        <p:spPr>
          <a:xfrm>
            <a:off x="5524500" y="-1714500"/>
            <a:ext cx="5334000" cy="53340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" name="Quart de cadran"/>
          <p:cNvSpPr/>
          <p:nvPr/>
        </p:nvSpPr>
        <p:spPr>
          <a:xfrm>
            <a:off x="5524500" y="-1714500"/>
            <a:ext cx="5334000" cy="5334000"/>
          </a:xfrm>
          <a:prstGeom prst="pie">
            <a:avLst>
              <a:gd name="adj1" fmla="val 5400000"/>
              <a:gd name="adj2" fmla="val 10800000"/>
            </a:avLst>
          </a:prstGeom>
          <a:solidFill>
            <a:schemeClr val="accent1"/>
          </a:solidFill>
          <a:ln/>
        </p:spPr>
      </p:sp>
      <p:pic>
        <p:nvPicPr>
          <p:cNvPr id="4" name="Image 0" descr="Temps Rend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76250"/>
            <a:ext cx="1439466" cy="2857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600" y="16192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Merci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24955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Questions, réactions, prochaines étapes ?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40005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Dr Florence Charquet Mazeres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424815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Intervenante · facteurs humains et automatisation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476750" y="4019550"/>
            <a:ext cx="3619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[adresse e-mail]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76750" y="4248150"/>
            <a:ext cx="3619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[téléphone] · [site web]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s Rendu Cadran">
  <a:themeElements>
    <a:clrScheme name="Temps Rendu Cadran">
      <a:dk1>
        <a:srgbClr val="13231E"/>
      </a:dk1>
      <a:lt1>
        <a:srgbClr val="FFFFFF"/>
      </a:lt1>
      <a:dk2>
        <a:srgbClr val="1E332C"/>
      </a:dk2>
      <a:lt2>
        <a:srgbClr val="F4F6F3"/>
      </a:lt2>
      <a:accent1>
        <a:srgbClr val="F0B43A"/>
      </a:accent1>
      <a:accent2>
        <a:srgbClr val="C98A00"/>
      </a:accent2>
      <a:accent3>
        <a:srgbClr val="DCE4E0"/>
      </a:accent3>
      <a:accent4>
        <a:srgbClr val="56655F"/>
      </a:accent4>
      <a:accent5>
        <a:srgbClr val="8A5E00"/>
      </a:accent5>
      <a:accent6>
        <a:srgbClr val="2E4A41"/>
      </a:accent6>
      <a:hlink>
        <a:srgbClr val="8A5E00"/>
      </a:hlink>
      <a:folHlink>
        <a:srgbClr val="56655F"/>
      </a:folHlink>
    </a:clrScheme>
    <a:fontScheme name="Temps Rendu Cadran">
      <a:majorFont>
        <a:latin typeface="Familjen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tkinson Hyperlegi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Temps Rendu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Restitution du diagnostic · modèle Temps Rendu</dc:title>
  <dc:subject>PptxGenJS Presentation</dc:subject>
  <dc:creator>Temps Rendu</dc:creator>
  <cp:lastModifiedBy>Temps Rendu</cp:lastModifiedBy>
  <cp:revision>1</cp:revision>
  <dcterms:created xsi:type="dcterms:W3CDTF">2026-10-02T20:24:11Z</dcterms:created>
  <dcterms:modified xsi:type="dcterms:W3CDTF">2026-10-02T20:24:11Z</dcterms:modified>
</cp:coreProperties>
</file>